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Overpass"/>
      <p:bold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4" roundtripDataSignature="AMtx7mj8UsBxnPiZeryta7Q88eYzvXgL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Overpass-boldItalic.fntdata"/><Relationship Id="rId12" Type="http://schemas.openxmlformats.org/officeDocument/2006/relationships/font" Target="fonts/Overpas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1af11d3c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91af11d3c3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1af11d3c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91af11d3c3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1af11d3c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91af11d3c3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10" Type="http://schemas.openxmlformats.org/officeDocument/2006/relationships/image" Target="../media/image12.gif"/><Relationship Id="rId9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3.gif"/><Relationship Id="rId8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10" Type="http://schemas.openxmlformats.org/officeDocument/2006/relationships/image" Target="../media/image15.gif"/><Relationship Id="rId9" Type="http://schemas.openxmlformats.org/officeDocument/2006/relationships/image" Target="../media/image13.gif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17.png"/><Relationship Id="rId8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2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10" Type="http://schemas.openxmlformats.org/officeDocument/2006/relationships/image" Target="../media/image12.gif"/><Relationship Id="rId9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3.gif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9745853">
            <a:off x="13081395" y="7587450"/>
            <a:ext cx="6123180" cy="5444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71928">
            <a:off x="-1521410" y="-2968012"/>
            <a:ext cx="5912598" cy="525683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1028700" y="3654568"/>
            <a:ext cx="16230600" cy="31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99">
                <a:solidFill>
                  <a:srgbClr val="67BAE8"/>
                </a:solidFill>
                <a:latin typeface="Overpass"/>
                <a:ea typeface="Overpass"/>
                <a:cs typeface="Overpass"/>
                <a:sym typeface="Overpass"/>
              </a:rPr>
              <a:t>AI d</a:t>
            </a:r>
            <a:r>
              <a:rPr b="1" lang="en-US" sz="9699">
                <a:solidFill>
                  <a:srgbClr val="67BAE8"/>
                </a:solidFill>
                <a:latin typeface="Overpass"/>
                <a:ea typeface="Overpass"/>
                <a:cs typeface="Overpass"/>
                <a:sym typeface="Overpass"/>
              </a:rPr>
              <a:t>iagnostic</a:t>
            </a:r>
            <a:r>
              <a:rPr b="1" lang="en-US" sz="9699">
                <a:solidFill>
                  <a:srgbClr val="67BAE8"/>
                </a:solidFill>
                <a:latin typeface="Overpass"/>
                <a:ea typeface="Overpass"/>
                <a:cs typeface="Overpass"/>
                <a:sym typeface="Overpass"/>
              </a:rPr>
              <a:t> of your health problems</a:t>
            </a:r>
            <a:endParaRPr/>
          </a:p>
        </p:txBody>
      </p:sp>
      <p:pic>
        <p:nvPicPr>
          <p:cNvPr id="87" name="Google Shape;8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91527" y="5534054"/>
            <a:ext cx="4642919" cy="5803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2250611">
            <a:off x="1681022" y="7026600"/>
            <a:ext cx="1422641" cy="2625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952712" y="604440"/>
            <a:ext cx="2306588" cy="272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338381" y="-1092211"/>
            <a:ext cx="4458895" cy="423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-5546932">
            <a:off x="1075949" y="550212"/>
            <a:ext cx="2390377" cy="22412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1"/>
          <p:cNvGrpSpPr/>
          <p:nvPr/>
        </p:nvGrpSpPr>
        <p:grpSpPr>
          <a:xfrm>
            <a:off x="5788087" y="2864662"/>
            <a:ext cx="6711827" cy="514350"/>
            <a:chOff x="1873334" y="73572"/>
            <a:chExt cx="8949102" cy="685800"/>
          </a:xfrm>
        </p:grpSpPr>
        <p:sp>
          <p:nvSpPr>
            <p:cNvPr id="93" name="Google Shape;93;p1"/>
            <p:cNvSpPr txBox="1"/>
            <p:nvPr/>
          </p:nvSpPr>
          <p:spPr>
            <a:xfrm>
              <a:off x="2412479" y="73572"/>
              <a:ext cx="7870812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  <a:t>Your Healthcare Presentation</a:t>
              </a:r>
              <a:endParaRPr/>
            </a:p>
          </p:txBody>
        </p:sp>
        <p:pic>
          <p:nvPicPr>
            <p:cNvPr id="94" name="Google Shape;94;p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873334" y="137072"/>
              <a:ext cx="539145" cy="5391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" name="Google Shape;95;p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0283291" y="137072"/>
              <a:ext cx="539145" cy="5391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6" name="Google Shape;96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3945198" y="8661176"/>
            <a:ext cx="1016420" cy="1021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7BAE8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5"/>
          <p:cNvGrpSpPr/>
          <p:nvPr/>
        </p:nvGrpSpPr>
        <p:grpSpPr>
          <a:xfrm>
            <a:off x="-1044523" y="6603179"/>
            <a:ext cx="21379593" cy="10207499"/>
            <a:chOff x="-1" y="1"/>
            <a:chExt cx="28506125" cy="13609998"/>
          </a:xfrm>
        </p:grpSpPr>
        <p:pic>
          <p:nvPicPr>
            <p:cNvPr id="102" name="Google Shape;102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343109" y="-343109"/>
              <a:ext cx="13609998" cy="142962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3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4553017" y="-343109"/>
              <a:ext cx="13609998" cy="1429621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" name="Google Shape;104;p5"/>
          <p:cNvGrpSpPr/>
          <p:nvPr/>
        </p:nvGrpSpPr>
        <p:grpSpPr>
          <a:xfrm>
            <a:off x="6990921" y="2801370"/>
            <a:ext cx="4334694" cy="5268802"/>
            <a:chOff x="0" y="-228600"/>
            <a:chExt cx="1141648" cy="1387668"/>
          </a:xfrm>
        </p:grpSpPr>
        <p:sp>
          <p:nvSpPr>
            <p:cNvPr id="105" name="Google Shape;105;p5"/>
            <p:cNvSpPr/>
            <p:nvPr/>
          </p:nvSpPr>
          <p:spPr>
            <a:xfrm>
              <a:off x="0" y="0"/>
              <a:ext cx="1141648" cy="1159068"/>
            </a:xfrm>
            <a:custGeom>
              <a:rect b="b" l="l" r="r" t="t"/>
              <a:pathLst>
                <a:path extrusionOk="0" h="1159068" w="1141648">
                  <a:moveTo>
                    <a:pt x="44651" y="0"/>
                  </a:moveTo>
                  <a:lnTo>
                    <a:pt x="1096997" y="0"/>
                  </a:lnTo>
                  <a:cubicBezTo>
                    <a:pt x="1108839" y="0"/>
                    <a:pt x="1120196" y="4704"/>
                    <a:pt x="1128570" y="13078"/>
                  </a:cubicBezTo>
                  <a:cubicBezTo>
                    <a:pt x="1136944" y="21452"/>
                    <a:pt x="1141648" y="32809"/>
                    <a:pt x="1141648" y="44651"/>
                  </a:cubicBezTo>
                  <a:lnTo>
                    <a:pt x="1141648" y="1114417"/>
                  </a:lnTo>
                  <a:cubicBezTo>
                    <a:pt x="1141648" y="1139077"/>
                    <a:pt x="1121657" y="1159068"/>
                    <a:pt x="1096997" y="1159068"/>
                  </a:cubicBezTo>
                  <a:lnTo>
                    <a:pt x="44651" y="1159068"/>
                  </a:lnTo>
                  <a:cubicBezTo>
                    <a:pt x="32809" y="1159068"/>
                    <a:pt x="21452" y="1154364"/>
                    <a:pt x="13078" y="1145990"/>
                  </a:cubicBezTo>
                  <a:cubicBezTo>
                    <a:pt x="4704" y="1137616"/>
                    <a:pt x="0" y="1126259"/>
                    <a:pt x="0" y="1114417"/>
                  </a:cubicBezTo>
                  <a:lnTo>
                    <a:pt x="0" y="44651"/>
                  </a:lnTo>
                  <a:cubicBezTo>
                    <a:pt x="0" y="32809"/>
                    <a:pt x="4704" y="21452"/>
                    <a:pt x="13078" y="13078"/>
                  </a:cubicBezTo>
                  <a:cubicBezTo>
                    <a:pt x="21452" y="4704"/>
                    <a:pt x="32809" y="0"/>
                    <a:pt x="446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5"/>
            <p:cNvSpPr txBox="1"/>
            <p:nvPr/>
          </p:nvSpPr>
          <p:spPr>
            <a:xfrm>
              <a:off x="0" y="-228600"/>
              <a:ext cx="812800" cy="104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6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5"/>
          <p:cNvGrpSpPr/>
          <p:nvPr/>
        </p:nvGrpSpPr>
        <p:grpSpPr>
          <a:xfrm>
            <a:off x="1865651" y="2801370"/>
            <a:ext cx="4334694" cy="5268802"/>
            <a:chOff x="0" y="-228600"/>
            <a:chExt cx="1141648" cy="1387668"/>
          </a:xfrm>
        </p:grpSpPr>
        <p:sp>
          <p:nvSpPr>
            <p:cNvPr id="108" name="Google Shape;108;p5"/>
            <p:cNvSpPr/>
            <p:nvPr/>
          </p:nvSpPr>
          <p:spPr>
            <a:xfrm>
              <a:off x="0" y="0"/>
              <a:ext cx="1141648" cy="1159068"/>
            </a:xfrm>
            <a:custGeom>
              <a:rect b="b" l="l" r="r" t="t"/>
              <a:pathLst>
                <a:path extrusionOk="0" h="1159068" w="1141648">
                  <a:moveTo>
                    <a:pt x="44651" y="0"/>
                  </a:moveTo>
                  <a:lnTo>
                    <a:pt x="1096997" y="0"/>
                  </a:lnTo>
                  <a:cubicBezTo>
                    <a:pt x="1108839" y="0"/>
                    <a:pt x="1120196" y="4704"/>
                    <a:pt x="1128570" y="13078"/>
                  </a:cubicBezTo>
                  <a:cubicBezTo>
                    <a:pt x="1136944" y="21452"/>
                    <a:pt x="1141648" y="32809"/>
                    <a:pt x="1141648" y="44651"/>
                  </a:cubicBezTo>
                  <a:lnTo>
                    <a:pt x="1141648" y="1114417"/>
                  </a:lnTo>
                  <a:cubicBezTo>
                    <a:pt x="1141648" y="1139077"/>
                    <a:pt x="1121657" y="1159068"/>
                    <a:pt x="1096997" y="1159068"/>
                  </a:cubicBezTo>
                  <a:lnTo>
                    <a:pt x="44651" y="1159068"/>
                  </a:lnTo>
                  <a:cubicBezTo>
                    <a:pt x="32809" y="1159068"/>
                    <a:pt x="21452" y="1154364"/>
                    <a:pt x="13078" y="1145990"/>
                  </a:cubicBezTo>
                  <a:cubicBezTo>
                    <a:pt x="4704" y="1137616"/>
                    <a:pt x="0" y="1126259"/>
                    <a:pt x="0" y="1114417"/>
                  </a:cubicBezTo>
                  <a:lnTo>
                    <a:pt x="0" y="44651"/>
                  </a:lnTo>
                  <a:cubicBezTo>
                    <a:pt x="0" y="32809"/>
                    <a:pt x="4704" y="21452"/>
                    <a:pt x="13078" y="13078"/>
                  </a:cubicBezTo>
                  <a:cubicBezTo>
                    <a:pt x="21452" y="4704"/>
                    <a:pt x="32809" y="0"/>
                    <a:pt x="446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5"/>
            <p:cNvSpPr txBox="1"/>
            <p:nvPr/>
          </p:nvSpPr>
          <p:spPr>
            <a:xfrm>
              <a:off x="0" y="-228600"/>
              <a:ext cx="812800" cy="104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6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" name="Google Shape;110;p5"/>
          <p:cNvGrpSpPr/>
          <p:nvPr/>
        </p:nvGrpSpPr>
        <p:grpSpPr>
          <a:xfrm>
            <a:off x="12087654" y="2801370"/>
            <a:ext cx="4334694" cy="5268802"/>
            <a:chOff x="0" y="-228600"/>
            <a:chExt cx="1141648" cy="1387668"/>
          </a:xfrm>
        </p:grpSpPr>
        <p:sp>
          <p:nvSpPr>
            <p:cNvPr id="111" name="Google Shape;111;p5"/>
            <p:cNvSpPr/>
            <p:nvPr/>
          </p:nvSpPr>
          <p:spPr>
            <a:xfrm>
              <a:off x="0" y="0"/>
              <a:ext cx="1141648" cy="1159068"/>
            </a:xfrm>
            <a:custGeom>
              <a:rect b="b" l="l" r="r" t="t"/>
              <a:pathLst>
                <a:path extrusionOk="0" h="1159068" w="1141648">
                  <a:moveTo>
                    <a:pt x="44651" y="0"/>
                  </a:moveTo>
                  <a:lnTo>
                    <a:pt x="1096997" y="0"/>
                  </a:lnTo>
                  <a:cubicBezTo>
                    <a:pt x="1108839" y="0"/>
                    <a:pt x="1120196" y="4704"/>
                    <a:pt x="1128570" y="13078"/>
                  </a:cubicBezTo>
                  <a:cubicBezTo>
                    <a:pt x="1136944" y="21452"/>
                    <a:pt x="1141648" y="32809"/>
                    <a:pt x="1141648" y="44651"/>
                  </a:cubicBezTo>
                  <a:lnTo>
                    <a:pt x="1141648" y="1114417"/>
                  </a:lnTo>
                  <a:cubicBezTo>
                    <a:pt x="1141648" y="1139077"/>
                    <a:pt x="1121657" y="1159068"/>
                    <a:pt x="1096997" y="1159068"/>
                  </a:cubicBezTo>
                  <a:lnTo>
                    <a:pt x="44651" y="1159068"/>
                  </a:lnTo>
                  <a:cubicBezTo>
                    <a:pt x="32809" y="1159068"/>
                    <a:pt x="21452" y="1154364"/>
                    <a:pt x="13078" y="1145990"/>
                  </a:cubicBezTo>
                  <a:cubicBezTo>
                    <a:pt x="4704" y="1137616"/>
                    <a:pt x="0" y="1126259"/>
                    <a:pt x="0" y="1114417"/>
                  </a:cubicBezTo>
                  <a:lnTo>
                    <a:pt x="0" y="44651"/>
                  </a:lnTo>
                  <a:cubicBezTo>
                    <a:pt x="0" y="32809"/>
                    <a:pt x="4704" y="21452"/>
                    <a:pt x="13078" y="13078"/>
                  </a:cubicBezTo>
                  <a:cubicBezTo>
                    <a:pt x="21452" y="4704"/>
                    <a:pt x="32809" y="0"/>
                    <a:pt x="446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5"/>
            <p:cNvSpPr txBox="1"/>
            <p:nvPr/>
          </p:nvSpPr>
          <p:spPr>
            <a:xfrm>
              <a:off x="0" y="-228600"/>
              <a:ext cx="812800" cy="104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6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3" name="Google Shape;11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0021" y="2885904"/>
            <a:ext cx="2152813" cy="2590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97169" y="5952635"/>
            <a:ext cx="3618347" cy="4889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640206" y="-19050"/>
            <a:ext cx="1085789" cy="13124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" name="Google Shape;116;p5"/>
          <p:cNvGrpSpPr/>
          <p:nvPr/>
        </p:nvGrpSpPr>
        <p:grpSpPr>
          <a:xfrm>
            <a:off x="3620591" y="3273489"/>
            <a:ext cx="825314" cy="831671"/>
            <a:chOff x="0" y="0"/>
            <a:chExt cx="1100419" cy="1108895"/>
          </a:xfrm>
        </p:grpSpPr>
        <p:pic>
          <p:nvPicPr>
            <p:cNvPr id="117" name="Google Shape;117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5535" y="53303"/>
              <a:ext cx="1024884" cy="10555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0" y="0"/>
              <a:ext cx="1024884" cy="105559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9" name="Google Shape;119;p5"/>
          <p:cNvGrpSpPr/>
          <p:nvPr/>
        </p:nvGrpSpPr>
        <p:grpSpPr>
          <a:xfrm>
            <a:off x="8776076" y="3300374"/>
            <a:ext cx="869197" cy="852412"/>
            <a:chOff x="0" y="-1"/>
            <a:chExt cx="1158930" cy="1136549"/>
          </a:xfrm>
        </p:grpSpPr>
        <p:pic>
          <p:nvPicPr>
            <p:cNvPr id="120" name="Google Shape;120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689288">
              <a:off x="117317" y="64730"/>
              <a:ext cx="1024884" cy="10555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" name="Google Shape;121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rot="10689288">
              <a:off x="16729" y="16226"/>
              <a:ext cx="1024884" cy="105559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" name="Google Shape;122;p5"/>
          <p:cNvGrpSpPr/>
          <p:nvPr/>
        </p:nvGrpSpPr>
        <p:grpSpPr>
          <a:xfrm>
            <a:off x="13697677" y="3054117"/>
            <a:ext cx="1158015" cy="1175164"/>
            <a:chOff x="0" y="0"/>
            <a:chExt cx="1544020" cy="1566886"/>
          </a:xfrm>
        </p:grpSpPr>
        <p:pic>
          <p:nvPicPr>
            <p:cNvPr id="123" name="Google Shape;123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-3002050">
              <a:off x="297904" y="307320"/>
              <a:ext cx="1024884" cy="10555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rot="-3002050">
              <a:off x="221233" y="203973"/>
              <a:ext cx="1024884" cy="105559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5" name="Google Shape;125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-2306414">
            <a:off x="1777461" y="2395419"/>
            <a:ext cx="476036" cy="572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-3450829">
            <a:off x="16116223" y="2648470"/>
            <a:ext cx="1273082" cy="119674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 txBox="1"/>
          <p:nvPr/>
        </p:nvSpPr>
        <p:spPr>
          <a:xfrm>
            <a:off x="2562834" y="1093417"/>
            <a:ext cx="13162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Stages</a:t>
            </a:r>
            <a:endParaRPr/>
          </a:p>
        </p:txBody>
      </p:sp>
      <p:grpSp>
        <p:nvGrpSpPr>
          <p:cNvPr id="128" name="Google Shape;128;p5"/>
          <p:cNvGrpSpPr/>
          <p:nvPr/>
        </p:nvGrpSpPr>
        <p:grpSpPr>
          <a:xfrm>
            <a:off x="7490963" y="4225280"/>
            <a:ext cx="3306150" cy="3068819"/>
            <a:chOff x="402076" y="-180975"/>
            <a:chExt cx="4408200" cy="4091758"/>
          </a:xfrm>
        </p:grpSpPr>
        <p:sp>
          <p:nvSpPr>
            <p:cNvPr id="129" name="Google Shape;129;p5"/>
            <p:cNvSpPr txBox="1"/>
            <p:nvPr/>
          </p:nvSpPr>
          <p:spPr>
            <a:xfrm>
              <a:off x="402076" y="1817983"/>
              <a:ext cx="4408200" cy="209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99">
                  <a:solidFill>
                    <a:srgbClr val="67BAE8"/>
                  </a:solidFill>
                  <a:latin typeface="Overpass"/>
                  <a:ea typeface="Overpass"/>
                  <a:cs typeface="Overpass"/>
                  <a:sym typeface="Overpass"/>
                </a:rPr>
                <a:t>Choosing two models for fine-tuning</a:t>
              </a:r>
              <a:endParaRPr/>
            </a:p>
          </p:txBody>
        </p:sp>
        <p:sp>
          <p:nvSpPr>
            <p:cNvPr id="130" name="Google Shape;130;p5"/>
            <p:cNvSpPr txBox="1"/>
            <p:nvPr/>
          </p:nvSpPr>
          <p:spPr>
            <a:xfrm>
              <a:off x="1705557" y="-180975"/>
              <a:ext cx="1841636" cy="1603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000" u="none" cap="none" strike="noStrike">
                  <a:solidFill>
                    <a:srgbClr val="67BAE8"/>
                  </a:solidFill>
                  <a:latin typeface="Overpass"/>
                  <a:ea typeface="Overpass"/>
                  <a:cs typeface="Overpass"/>
                  <a:sym typeface="Overpass"/>
                </a:rPr>
                <a:t>02</a:t>
              </a:r>
              <a:endParaRPr/>
            </a:p>
          </p:txBody>
        </p:sp>
      </p:grpSp>
      <p:grpSp>
        <p:nvGrpSpPr>
          <p:cNvPr id="131" name="Google Shape;131;p5"/>
          <p:cNvGrpSpPr/>
          <p:nvPr/>
        </p:nvGrpSpPr>
        <p:grpSpPr>
          <a:xfrm>
            <a:off x="2379962" y="4225280"/>
            <a:ext cx="3306150" cy="2514869"/>
            <a:chOff x="485977" y="-180975"/>
            <a:chExt cx="4408200" cy="3353158"/>
          </a:xfrm>
        </p:grpSpPr>
        <p:sp>
          <p:nvSpPr>
            <p:cNvPr id="132" name="Google Shape;132;p5"/>
            <p:cNvSpPr txBox="1"/>
            <p:nvPr/>
          </p:nvSpPr>
          <p:spPr>
            <a:xfrm>
              <a:off x="485977" y="1817983"/>
              <a:ext cx="4408200" cy="135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99">
                  <a:solidFill>
                    <a:srgbClr val="F16448"/>
                  </a:solidFill>
                  <a:latin typeface="Overpass"/>
                  <a:ea typeface="Overpass"/>
                  <a:cs typeface="Overpass"/>
                  <a:sym typeface="Overpass"/>
                </a:rPr>
                <a:t>Finding the Dataset</a:t>
              </a:r>
              <a:endParaRPr/>
            </a:p>
          </p:txBody>
        </p:sp>
        <p:sp>
          <p:nvSpPr>
            <p:cNvPr id="133" name="Google Shape;133;p5"/>
            <p:cNvSpPr txBox="1"/>
            <p:nvPr/>
          </p:nvSpPr>
          <p:spPr>
            <a:xfrm>
              <a:off x="1731774" y="-180975"/>
              <a:ext cx="1841636" cy="1603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000" u="none" cap="none" strike="noStrike">
                  <a:solidFill>
                    <a:srgbClr val="F16448"/>
                  </a:solidFill>
                  <a:latin typeface="Overpass"/>
                  <a:ea typeface="Overpass"/>
                  <a:cs typeface="Overpass"/>
                  <a:sym typeface="Overpass"/>
                </a:rPr>
                <a:t>01</a:t>
              </a:r>
              <a:endParaRPr/>
            </a:p>
          </p:txBody>
        </p:sp>
      </p:grpSp>
      <p:grpSp>
        <p:nvGrpSpPr>
          <p:cNvPr id="134" name="Google Shape;134;p5"/>
          <p:cNvGrpSpPr/>
          <p:nvPr/>
        </p:nvGrpSpPr>
        <p:grpSpPr>
          <a:xfrm>
            <a:off x="12357763" y="4225280"/>
            <a:ext cx="3794400" cy="2514869"/>
            <a:chOff x="118897" y="-180975"/>
            <a:chExt cx="5059200" cy="3353158"/>
          </a:xfrm>
        </p:grpSpPr>
        <p:sp>
          <p:nvSpPr>
            <p:cNvPr id="135" name="Google Shape;135;p5"/>
            <p:cNvSpPr txBox="1"/>
            <p:nvPr/>
          </p:nvSpPr>
          <p:spPr>
            <a:xfrm>
              <a:off x="118897" y="1817983"/>
              <a:ext cx="5059200" cy="135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99">
                  <a:solidFill>
                    <a:srgbClr val="FA9D8B"/>
                  </a:solidFill>
                  <a:latin typeface="Overpass"/>
                  <a:ea typeface="Overpass"/>
                  <a:cs typeface="Overpass"/>
                  <a:sym typeface="Overpass"/>
                </a:rPr>
                <a:t>Training &amp; </a:t>
              </a:r>
              <a:r>
                <a:rPr b="1" lang="en-US" sz="2999">
                  <a:solidFill>
                    <a:srgbClr val="FA9D8B"/>
                  </a:solidFill>
                  <a:latin typeface="Overpass"/>
                  <a:ea typeface="Overpass"/>
                  <a:cs typeface="Overpass"/>
                  <a:sym typeface="Overpass"/>
                </a:rPr>
                <a:t>Comparison</a:t>
              </a:r>
              <a:endParaRPr/>
            </a:p>
          </p:txBody>
        </p:sp>
        <p:sp>
          <p:nvSpPr>
            <p:cNvPr id="136" name="Google Shape;136;p5"/>
            <p:cNvSpPr txBox="1"/>
            <p:nvPr/>
          </p:nvSpPr>
          <p:spPr>
            <a:xfrm>
              <a:off x="1727731" y="-180975"/>
              <a:ext cx="1841636" cy="1603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000" u="none" cap="none" strike="noStrike">
                  <a:solidFill>
                    <a:srgbClr val="FA9D8B"/>
                  </a:solidFill>
                  <a:latin typeface="Overpass"/>
                  <a:ea typeface="Overpass"/>
                  <a:cs typeface="Overpass"/>
                  <a:sym typeface="Overpass"/>
                </a:rPr>
                <a:t>03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"/>
          <p:cNvSpPr txBox="1"/>
          <p:nvPr/>
        </p:nvSpPr>
        <p:spPr>
          <a:xfrm>
            <a:off x="2317850" y="1057014"/>
            <a:ext cx="13467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99">
                <a:solidFill>
                  <a:srgbClr val="67BAE8"/>
                </a:solidFill>
                <a:latin typeface="Overpass"/>
                <a:ea typeface="Overpass"/>
                <a:cs typeface="Overpass"/>
                <a:sym typeface="Overpass"/>
              </a:rPr>
              <a:t>ai-forever’s ruBERT-large</a:t>
            </a:r>
            <a:endParaRPr/>
          </a:p>
        </p:txBody>
      </p:sp>
      <p:pic>
        <p:nvPicPr>
          <p:cNvPr id="142" name="Google Shape;14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086481">
            <a:off x="884290" y="645438"/>
            <a:ext cx="1602645" cy="162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77328">
            <a:off x="15802464" y="644079"/>
            <a:ext cx="1602645" cy="162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3" title="photo_2025-12-12_11-36-10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9625" y="3025175"/>
            <a:ext cx="15328800" cy="493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1af11d3c3_0_4"/>
          <p:cNvSpPr txBox="1"/>
          <p:nvPr/>
        </p:nvSpPr>
        <p:spPr>
          <a:xfrm>
            <a:off x="2280775" y="1058377"/>
            <a:ext cx="13467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99">
                <a:solidFill>
                  <a:srgbClr val="67BAE8"/>
                </a:solidFill>
                <a:latin typeface="Overpass"/>
                <a:ea typeface="Overpass"/>
                <a:cs typeface="Overpass"/>
                <a:sym typeface="Overpass"/>
              </a:rPr>
              <a:t>DeepPavlop’s ruBERT-base-cased</a:t>
            </a:r>
            <a:endParaRPr/>
          </a:p>
        </p:txBody>
      </p:sp>
      <p:pic>
        <p:nvPicPr>
          <p:cNvPr id="150" name="Google Shape;150;g391af11d3c3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086480">
            <a:off x="884290" y="645438"/>
            <a:ext cx="1602645" cy="162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g391af11d3c3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77328">
            <a:off x="15802464" y="644079"/>
            <a:ext cx="1602645" cy="162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g391af11d3c3_0_4" title="photo_2025-12-12_11-40-08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8575" y="3866302"/>
            <a:ext cx="12890850" cy="2554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1af11d3c3_0_12"/>
          <p:cNvSpPr txBox="1"/>
          <p:nvPr/>
        </p:nvSpPr>
        <p:spPr>
          <a:xfrm>
            <a:off x="2699975" y="1058400"/>
            <a:ext cx="12891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99">
                <a:solidFill>
                  <a:srgbClr val="67BAE8"/>
                </a:solidFill>
                <a:latin typeface="Overpass"/>
                <a:ea typeface="Overpass"/>
                <a:cs typeface="Overpass"/>
                <a:sym typeface="Overpass"/>
              </a:rPr>
              <a:t>Integration into telegram bot</a:t>
            </a:r>
            <a:endParaRPr/>
          </a:p>
        </p:txBody>
      </p:sp>
      <p:pic>
        <p:nvPicPr>
          <p:cNvPr id="158" name="Google Shape;158;g391af11d3c3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086480">
            <a:off x="884290" y="645438"/>
            <a:ext cx="1602645" cy="162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g391af11d3c3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77328">
            <a:off x="15802464" y="644079"/>
            <a:ext cx="1602645" cy="162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391af11d3c3_0_12" title="photo_2025-12-12_11-45-59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5225" y="2477802"/>
            <a:ext cx="11197525" cy="71149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g391af11d3c3_0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9745853">
            <a:off x="13081395" y="7587450"/>
            <a:ext cx="6123180" cy="5444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391af11d3c3_0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71928">
            <a:off x="-1521410" y="-2968012"/>
            <a:ext cx="5912598" cy="5256837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391af11d3c3_0_20"/>
          <p:cNvSpPr txBox="1"/>
          <p:nvPr/>
        </p:nvSpPr>
        <p:spPr>
          <a:xfrm>
            <a:off x="1028700" y="3654568"/>
            <a:ext cx="16230600" cy="14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99">
                <a:solidFill>
                  <a:srgbClr val="67BAE8"/>
                </a:solidFill>
                <a:latin typeface="Overpass"/>
                <a:ea typeface="Overpass"/>
                <a:cs typeface="Overpass"/>
                <a:sym typeface="Overpass"/>
              </a:rPr>
              <a:t>Thanks for attention</a:t>
            </a:r>
            <a:endParaRPr/>
          </a:p>
        </p:txBody>
      </p:sp>
      <p:pic>
        <p:nvPicPr>
          <p:cNvPr id="168" name="Google Shape;168;g391af11d3c3_0_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91527" y="5534054"/>
            <a:ext cx="4642919" cy="5803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91af11d3c3_0_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2250611">
            <a:off x="1681022" y="7026600"/>
            <a:ext cx="1422641" cy="2625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91af11d3c3_0_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952712" y="604440"/>
            <a:ext cx="2306588" cy="2725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391af11d3c3_0_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338381" y="-1092211"/>
            <a:ext cx="4458894" cy="4235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91af11d3c3_0_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-5546931">
            <a:off x="1075949" y="550211"/>
            <a:ext cx="2390378" cy="22412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3" name="Google Shape;173;g391af11d3c3_0_20"/>
          <p:cNvGrpSpPr/>
          <p:nvPr/>
        </p:nvGrpSpPr>
        <p:grpSpPr>
          <a:xfrm>
            <a:off x="5788087" y="2864662"/>
            <a:ext cx="6711827" cy="461700"/>
            <a:chOff x="1873334" y="73572"/>
            <a:chExt cx="8949102" cy="615600"/>
          </a:xfrm>
        </p:grpSpPr>
        <p:sp>
          <p:nvSpPr>
            <p:cNvPr id="174" name="Google Shape;174;g391af11d3c3_0_20"/>
            <p:cNvSpPr txBox="1"/>
            <p:nvPr/>
          </p:nvSpPr>
          <p:spPr>
            <a:xfrm>
              <a:off x="2412479" y="73572"/>
              <a:ext cx="7870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  <a:t>Your Healthcare Presentation</a:t>
              </a:r>
              <a:endParaRPr/>
            </a:p>
          </p:txBody>
        </p:sp>
        <p:pic>
          <p:nvPicPr>
            <p:cNvPr id="175" name="Google Shape;175;g391af11d3c3_0_2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873334" y="137072"/>
              <a:ext cx="539145" cy="5391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g391af11d3c3_0_2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0283291" y="137072"/>
              <a:ext cx="539145" cy="5391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7" name="Google Shape;177;g391af11d3c3_0_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3945198" y="8661176"/>
            <a:ext cx="1016420" cy="1021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